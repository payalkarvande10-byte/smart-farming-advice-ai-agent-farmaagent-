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81" r:id="rId7"/>
    <p:sldId id="279" r:id="rId8"/>
    <p:sldId id="291" r:id="rId9"/>
    <p:sldId id="292" r:id="rId10"/>
    <p:sldId id="293" r:id="rId11"/>
    <p:sldId id="294" r:id="rId12"/>
    <p:sldId id="262" r:id="rId13"/>
    <p:sldId id="264" r:id="rId14"/>
    <p:sldId id="286" r:id="rId15"/>
    <p:sldId id="287" r:id="rId16"/>
    <p:sldId id="280" r:id="rId17"/>
    <p:sldId id="288"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CF376E3E-16AD-B220-DB03-D7511C5FAE25}" v="445" dt="2026-06-19T10:18:38.869"/>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05544447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Payal Himmat </a:t>
                      </a:r>
                      <a:r>
                        <a:rPr lang="en-US" dirty="0" err="1"/>
                        <a:t>Karvande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payalkarvande10@gmail.com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9579500549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dirty="0">
                <a:highlight>
                  <a:srgbClr val="FFFF00"/>
                </a:highlight>
              </a:rPr>
              <a:t>Agriculture Technology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AI Agent for Smart Farming Advice </a:t>
            </a:r>
            <a:endParaRPr lang="en-IN" sz="2400" b="1" dirty="0">
              <a:highlight>
                <a:srgbClr val="FFFF00"/>
              </a:highlight>
            </a:endParaRPr>
          </a:p>
        </p:txBody>
      </p:sp>
      <p:pic>
        <p:nvPicPr>
          <p:cNvPr id="5" name="Picture 4">
            <a:extLst>
              <a:ext uri="{FF2B5EF4-FFF2-40B4-BE49-F238E27FC236}">
                <a16:creationId xmlns:a16="http://schemas.microsoft.com/office/drawing/2014/main" id="{E4A95219-B9DC-CF59-01B6-99AC4EA58EEF}"/>
              </a:ext>
            </a:extLst>
          </p:cNvPr>
          <p:cNvPicPr>
            <a:picLocks noChangeAspect="1"/>
          </p:cNvPicPr>
          <p:nvPr/>
        </p:nvPicPr>
        <p:blipFill>
          <a:blip r:embed="rId3"/>
          <a:stretch>
            <a:fillRect/>
          </a:stretch>
        </p:blipFill>
        <p:spPr>
          <a:xfrm>
            <a:off x="4167143" y="3747444"/>
            <a:ext cx="762500" cy="80181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324535"/>
          </a:xfrm>
          <a:prstGeom prst="rect">
            <a:avLst/>
          </a:prstGeom>
          <a:noFill/>
        </p:spPr>
        <p:txBody>
          <a:bodyPr wrap="square" rtlCol="0">
            <a:spAutoFit/>
          </a:bodyPr>
          <a:lstStyle/>
          <a:p>
            <a:pPr fontAlgn="base"/>
            <a:r>
              <a:rPr lang="en-US" sz="2000" b="1" dirty="0"/>
              <a:t>Problem Statement : </a:t>
            </a:r>
            <a:r>
              <a:rPr lang="en-US" sz="2000" dirty="0" err="1"/>
              <a:t>FarmaAgent</a:t>
            </a:r>
            <a:r>
              <a:rPr lang="en-US" sz="2000" dirty="0"/>
              <a:t> – AI-Powered Smart Farming Advisor</a:t>
            </a:r>
          </a:p>
          <a:p>
            <a:pPr fontAlgn="base"/>
            <a:endParaRPr lang="en-US" sz="2000" b="1" dirty="0"/>
          </a:p>
          <a:p>
            <a:pPr fontAlgn="base"/>
            <a:r>
              <a:rPr lang="en-US" sz="2000" b="1" dirty="0"/>
              <a:t>The Challenge</a:t>
            </a:r>
            <a:r>
              <a:rPr lang="en-US" sz="2000" dirty="0"/>
              <a:t> </a:t>
            </a:r>
          </a:p>
          <a:p>
            <a:pPr fontAlgn="base"/>
            <a:r>
              <a:rPr lang="en-US" sz="2000" dirty="0"/>
              <a:t>Agriculture faces challenges such as unpredictable weather, pest and disease outbreaks, declining soil fertility, inefficient irrigation, and fluctuating market prices. Farmers often lack timely access to reliable, personalized agricultural advice, leading to lower crop yields and reduced income. Existing farming information is scattered across multiple sources, making it difficult for farmers to make informed decisions. </a:t>
            </a:r>
          </a:p>
          <a:p>
            <a:pPr fontAlgn="base"/>
            <a:endParaRPr lang="en-US" sz="2000" dirty="0"/>
          </a:p>
          <a:p>
            <a:pPr fontAlgn="base"/>
            <a:r>
              <a:rPr lang="en-US" sz="2000" b="1" dirty="0"/>
              <a:t>The Objective</a:t>
            </a:r>
            <a:r>
              <a:rPr lang="en-US" sz="2000" dirty="0"/>
              <a:t> </a:t>
            </a:r>
          </a:p>
          <a:p>
            <a:r>
              <a:rPr lang="en-US" sz="2000" dirty="0"/>
              <a:t>Build an </a:t>
            </a:r>
            <a:r>
              <a:rPr lang="en-US" sz="2000" b="1" dirty="0"/>
              <a:t>AI-powered Smart Farming Agent</a:t>
            </a:r>
            <a:r>
              <a:rPr lang="en-US" sz="2000" dirty="0"/>
              <a:t> that delivers </a:t>
            </a:r>
            <a:r>
              <a:rPr lang="en-US" sz="2000" b="1" dirty="0"/>
              <a:t>personalized agricultural insights and recommendations</a:t>
            </a:r>
            <a:r>
              <a:rPr lang="en-US" sz="2000" dirty="0"/>
              <a:t> to help farmers improve productivity, reduce costs, and adopt sustainable farming practices. The solution should:</a:t>
            </a:r>
          </a:p>
          <a:p>
            <a:pPr marL="285750" lvl="0" indent="-285750">
              <a:buFont typeface="Arial" panose="020B0604020202020204" pitchFamily="34" charset="0"/>
              <a:buChar char="•"/>
            </a:pPr>
            <a:r>
              <a:rPr lang="en-US" sz="2000" b="1" dirty="0"/>
              <a:t>Agricultural Knowledge Retrieval (RAG)</a:t>
            </a:r>
            <a:r>
              <a:rPr lang="en-US" sz="2000" dirty="0"/>
              <a:t> – Retrieve crop-specific best practices, farming techniques, and government agricultural advisories from trusted sources. </a:t>
            </a:r>
          </a:p>
          <a:p>
            <a:pPr marL="285750" lvl="0" indent="-285750">
              <a:buFont typeface="Arial" panose="020B0604020202020204" pitchFamily="34" charset="0"/>
              <a:buChar char="•"/>
            </a:pPr>
            <a:r>
              <a:rPr lang="en-US" sz="2000" b="1" dirty="0"/>
              <a:t>Weather &amp; Soil Insights</a:t>
            </a:r>
            <a:r>
              <a:rPr lang="en-US" sz="2000" dirty="0"/>
              <a:t> – Provide real-time weather forecasts, soil health analysis, and irrigation recommendations to support farm planning. </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16758"/>
          </a:xfrm>
          <a:prstGeom prst="rect">
            <a:avLst/>
          </a:prstGeom>
          <a:noFill/>
        </p:spPr>
        <p:txBody>
          <a:bodyPr wrap="square" rtlCol="0">
            <a:spAutoFit/>
          </a:bodyPr>
          <a:lstStyle/>
          <a:p>
            <a:r>
              <a:rPr lang="en-US" sz="2000" b="1" dirty="0"/>
              <a:t>Proposed Solution: AI-Powered Smart Farming Agent (</a:t>
            </a:r>
            <a:r>
              <a:rPr lang="en-US" sz="2000" b="1" dirty="0" err="1"/>
              <a:t>FarmaAgent</a:t>
            </a:r>
            <a:r>
              <a:rPr lang="en-US" sz="2000" b="1" dirty="0"/>
              <a:t>)</a:t>
            </a:r>
          </a:p>
          <a:p>
            <a:endParaRPr lang="en-US" sz="2000" b="1" dirty="0"/>
          </a:p>
          <a:p>
            <a:r>
              <a:rPr lang="en-US" sz="2000" dirty="0"/>
              <a:t>The proposed solution is </a:t>
            </a:r>
            <a:r>
              <a:rPr lang="en-US" sz="2000" b="1" dirty="0" err="1"/>
              <a:t>FarmaAgent</a:t>
            </a:r>
            <a:r>
              <a:rPr lang="en-US" sz="2000" dirty="0"/>
              <a:t>, a multi-agent AI-powered Smart Farming Assistant built using </a:t>
            </a:r>
            <a:r>
              <a:rPr lang="en-US" sz="2000" b="1" dirty="0"/>
              <a:t>IBM </a:t>
            </a:r>
            <a:r>
              <a:rPr lang="en-US" sz="2000" b="1" dirty="0" err="1"/>
              <a:t>LangFlow</a:t>
            </a:r>
            <a:r>
              <a:rPr lang="en-US" sz="2000" b="1" dirty="0"/>
              <a:t>, IBM watsonx.ai, IBM Granite Models, and IBM Orchestrate</a:t>
            </a:r>
            <a:r>
              <a:rPr lang="en-US" sz="2000" dirty="0"/>
              <a:t>. It provides personalized, real-time agricultural guidance to help farmers improve crop productivity, reduce costs, and adopt sustainable farming practices.</a:t>
            </a:r>
          </a:p>
          <a:p>
            <a:r>
              <a:rPr lang="en-US" sz="2000" dirty="0"/>
              <a:t>The solution uses a </a:t>
            </a:r>
            <a:r>
              <a:rPr lang="en-US" sz="2000" b="1" dirty="0"/>
              <a:t>Retrieval-Augmented Generation (RAG)</a:t>
            </a:r>
            <a:r>
              <a:rPr lang="en-US" sz="2000" dirty="0"/>
              <a:t> pipeline to retrieve trusted agricultural information such as crop guidelines, government advisories, soil management practices, and farming best practices. This knowledge is stored in a vector database, enabling the system to provide accurate, context-aware recommendations using IBM Granite Models.</a:t>
            </a:r>
          </a:p>
          <a:p>
            <a:r>
              <a:rPr lang="en-US" sz="2000" dirty="0"/>
              <a:t>The system consists of four intelligent agents:</a:t>
            </a:r>
          </a:p>
          <a:p>
            <a:pPr lvl="0"/>
            <a:r>
              <a:rPr lang="en-US" sz="2000" b="1" dirty="0"/>
              <a:t>Crop Advisory Agent</a:t>
            </a:r>
            <a:r>
              <a:rPr lang="en-US" sz="2000" dirty="0"/>
              <a:t> – Recommends suitable crops, seed varieties, fertilizers, irrigation schedules, and harvesting timelines based on the farmer's location, soil type, and season. </a:t>
            </a:r>
          </a:p>
          <a:p>
            <a:pPr lvl="0"/>
            <a:r>
              <a:rPr lang="en-US" sz="2000" b="1" dirty="0"/>
              <a:t>Weather &amp; Irrigation Agent</a:t>
            </a:r>
            <a:r>
              <a:rPr lang="en-US" sz="2000" dirty="0"/>
              <a:t> – Provides real-time weather forecasts, rainfall alerts, and irrigation recommendations for efficient water management. </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lIns="91440" tIns="45720" rIns="91440" bIns="45720" rtlCol="0" anchor="t">
            <a:spAutoFit/>
          </a:bodyPr>
          <a:lstStyle/>
          <a:p>
            <a:pPr marL="285750" lvl="0" indent="-285750">
              <a:buFont typeface="Arial" panose="020B0604020202020204" pitchFamily="34" charset="0"/>
              <a:buChar char="•"/>
            </a:pPr>
            <a:r>
              <a:rPr lang="en-US" sz="2000" b="1" dirty="0"/>
              <a:t>IBM </a:t>
            </a:r>
            <a:r>
              <a:rPr lang="en-US" sz="2000" b="1" dirty="0" err="1"/>
              <a:t>LangFlow</a:t>
            </a:r>
            <a:r>
              <a:rPr lang="en-US" sz="2000" dirty="0"/>
              <a:t> – For designing and orchestrating the multi-agent workflow, enabling collaboration between Crop Advisory, Weather &amp; Irrigation, Pest &amp; Disease Detection, and Market Insights agents. </a:t>
            </a:r>
          </a:p>
          <a:p>
            <a:pPr marL="285750" lvl="0" indent="-285750">
              <a:buFont typeface="Arial" panose="020B0604020202020204" pitchFamily="34" charset="0"/>
              <a:buChar char="•"/>
            </a:pPr>
            <a:r>
              <a:rPr lang="en-US" sz="2000" b="1" dirty="0"/>
              <a:t>IBM Granite Model (e.g., ibm-granite-3-2-8b)</a:t>
            </a:r>
            <a:r>
              <a:rPr lang="en-US" sz="2000" dirty="0"/>
              <a:t> – For natural language understanding, reasoning, personalized farming recommendations, and answering user queries. </a:t>
            </a:r>
          </a:p>
          <a:p>
            <a:pPr marL="285750" lvl="0" indent="-285750">
              <a:buFont typeface="Arial" panose="020B0604020202020204" pitchFamily="34" charset="0"/>
              <a:buChar char="•"/>
            </a:pPr>
            <a:r>
              <a:rPr lang="en-US" sz="2000" b="1" dirty="0"/>
              <a:t>IBM Cloud</a:t>
            </a:r>
            <a:r>
              <a:rPr lang="en-US" sz="2000" dirty="0"/>
              <a:t> – Provides a secure, scalable, and reliable platform to deploy and manage the </a:t>
            </a:r>
            <a:r>
              <a:rPr lang="en-US" sz="2000" dirty="0" err="1"/>
              <a:t>FarmaAgent</a:t>
            </a:r>
            <a:r>
              <a:rPr lang="en-US" sz="2000" dirty="0"/>
              <a:t> application and its AI services. </a:t>
            </a:r>
          </a:p>
          <a:p>
            <a:pPr marL="285750" lvl="0" indent="-285750">
              <a:buFont typeface="Arial" panose="020B0604020202020204" pitchFamily="34" charset="0"/>
              <a:buChar char="•"/>
            </a:pPr>
            <a:r>
              <a:rPr lang="en-US" sz="2000" b="1" dirty="0"/>
              <a:t>Retrieval-Augmented Generation (RAG)</a:t>
            </a:r>
            <a:r>
              <a:rPr lang="en-US" sz="2000" dirty="0"/>
              <a:t> – Retrieves trusted agricultural knowledge, crop guidelines, government advisories, and farming best practices before generating accurate responses. </a:t>
            </a:r>
          </a:p>
          <a:p>
            <a:pPr marL="285750" lvl="0" indent="-285750">
              <a:buFont typeface="Arial" panose="020B0604020202020204" pitchFamily="34" charset="0"/>
              <a:buChar char="•"/>
            </a:pPr>
            <a:r>
              <a:rPr lang="en-US" sz="2000" b="1" dirty="0"/>
              <a:t>IBM watsonx.ai</a:t>
            </a:r>
            <a:r>
              <a:rPr lang="en-US" sz="2000" dirty="0"/>
              <a:t> – Used for model deployment, embeddings, AI governance, and powering the AI capabilities of </a:t>
            </a:r>
            <a:r>
              <a:rPr lang="en-US" sz="2000" dirty="0" err="1"/>
              <a:t>FarmaAgent</a:t>
            </a:r>
            <a:r>
              <a:rPr lang="en-US" sz="2000" dirty="0"/>
              <a:t>. </a:t>
            </a:r>
          </a:p>
          <a:p>
            <a:pPr marL="285750" lvl="0" indent="-285750">
              <a:buFont typeface="Arial" panose="020B0604020202020204" pitchFamily="34" charset="0"/>
              <a:buChar char="•"/>
            </a:pPr>
            <a:r>
              <a:rPr lang="en-US" sz="2000" b="1" dirty="0"/>
              <a:t>Vector Database (FAISS/Chroma)</a:t>
            </a:r>
            <a:r>
              <a:rPr lang="en-US" sz="2000" dirty="0"/>
              <a:t> – Stores agricultural knowledge embeddings for fast and accurate RAG-based information retrieval. </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err="1">
                <a:sym typeface="Times New Roman"/>
              </a:rPr>
              <a:t>OrchestrAate</a:t>
            </a:r>
            <a:r>
              <a:rPr lang="en-US" sz="2400" b="1" dirty="0">
                <a:sym typeface="Times New Roman"/>
              </a:rPr>
              <a:t> 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940088"/>
          </a:xfrm>
          <a:prstGeom prst="rect">
            <a:avLst/>
          </a:prstGeom>
          <a:noFill/>
        </p:spPr>
        <p:txBody>
          <a:bodyPr wrap="square" rtlCol="0">
            <a:spAutoFit/>
          </a:bodyPr>
          <a:lstStyle/>
          <a:p>
            <a:pPr marL="342900" indent="-342900">
              <a:buAutoNum type="arabicParenR"/>
            </a:pPr>
            <a:r>
              <a:rPr lang="en-US" sz="2000" b="1" dirty="0"/>
              <a:t>Chat Input- </a:t>
            </a:r>
            <a:r>
              <a:rPr lang="en-US" sz="2000" dirty="0"/>
              <a:t>Interface where farmers enter their queries, upload crop images, or provide details such as crop type, soil type, location, and farming issues.</a:t>
            </a:r>
          </a:p>
          <a:p>
            <a:endParaRPr lang="en-US" sz="2000" dirty="0"/>
          </a:p>
          <a:p>
            <a:r>
              <a:rPr lang="en-US" sz="2000" b="1" dirty="0"/>
              <a:t>2) IBM </a:t>
            </a:r>
            <a:r>
              <a:rPr lang="en-US" sz="2000" b="1" dirty="0" err="1"/>
              <a:t>watsonx</a:t>
            </a:r>
            <a:r>
              <a:rPr lang="en-US" sz="2000" b="1" dirty="0"/>
              <a:t> AI Agent (</a:t>
            </a:r>
            <a:r>
              <a:rPr lang="en-US" sz="2000" b="1" dirty="0" err="1"/>
              <a:t>FarmaAgent</a:t>
            </a:r>
            <a:r>
              <a:rPr lang="en-US" sz="2000" b="1" dirty="0"/>
              <a:t>)- </a:t>
            </a:r>
            <a:r>
              <a:rPr lang="en-US" sz="2000" dirty="0"/>
              <a:t>Processes user input using IBM Granite models to provide personalized crop recommendations, weather insights, pest detection, irrigation guidance, and market advice.</a:t>
            </a:r>
          </a:p>
          <a:p>
            <a:endParaRPr lang="en-US" sz="2000" dirty="0"/>
          </a:p>
          <a:p>
            <a:r>
              <a:rPr lang="en-US" sz="2000" b="1" dirty="0"/>
              <a:t>3) IBM Granite Model- Granite-4.0-8B-Instruct</a:t>
            </a:r>
            <a:r>
              <a:rPr lang="en-US" sz="2000" dirty="0"/>
              <a:t> → Fast and efficient for natural language understanding, agricultural reasoning, and personalized farming recommendations.</a:t>
            </a:r>
          </a:p>
          <a:p>
            <a:endParaRPr lang="en-US" sz="2000" dirty="0"/>
          </a:p>
          <a:p>
            <a:r>
              <a:rPr lang="en-US" sz="2000" b="1" dirty="0"/>
              <a:t>4) Chat Output- </a:t>
            </a:r>
            <a:r>
              <a:rPr lang="en-US" sz="2000" dirty="0"/>
              <a:t>Displays AI-generated responses such as crop recommendations, weather-based irrigation schedules, pest and disease diagnosis, fertilizer suggestions, and market insights.</a:t>
            </a:r>
          </a:p>
          <a:p>
            <a:endParaRPr lang="en-US" sz="2000" dirty="0"/>
          </a:p>
          <a:p>
            <a:r>
              <a:rPr lang="en-US" sz="2000" b="1" dirty="0"/>
              <a:t>5) File Component- </a:t>
            </a:r>
            <a:r>
              <a:rPr lang="en-US" sz="2000" dirty="0"/>
              <a:t>Stores and retrieves agricultural documents, government advisories, crop guidelines, and user-uploaded crop images for RAG-based retrieval and analysis.</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a:rPr>
              <a:t>Agent Instructions Screenshot-</a:t>
            </a:r>
            <a:endParaRPr sz="2800" b="1" dirty="0">
              <a:sym typeface="Times New Roman"/>
            </a:endParaRPr>
          </a:p>
        </p:txBody>
      </p:sp>
      <p:pic>
        <p:nvPicPr>
          <p:cNvPr id="4" name="Picture 3">
            <a:extLst>
              <a:ext uri="{FF2B5EF4-FFF2-40B4-BE49-F238E27FC236}">
                <a16:creationId xmlns:a16="http://schemas.microsoft.com/office/drawing/2014/main" id="{63880492-61DF-8F75-4DE5-5361C7398DD2}"/>
              </a:ext>
            </a:extLst>
          </p:cNvPr>
          <p:cNvPicPr>
            <a:picLocks noChangeAspect="1"/>
          </p:cNvPicPr>
          <p:nvPr/>
        </p:nvPicPr>
        <p:blipFill>
          <a:blip r:embed="rId3"/>
          <a:srcRect t="11062"/>
          <a:stretch>
            <a:fillRect/>
          </a:stretch>
        </p:blipFill>
        <p:spPr>
          <a:xfrm>
            <a:off x="625514" y="928386"/>
            <a:ext cx="10940972" cy="592961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800" b="1" dirty="0">
                <a:sym typeface="Times New Roman"/>
              </a:rPr>
              <a:t>Prompt with output Screenshot: </a:t>
            </a:r>
            <a:endParaRPr lang="en-US" sz="2800" dirty="0"/>
          </a:p>
        </p:txBody>
      </p:sp>
      <p:pic>
        <p:nvPicPr>
          <p:cNvPr id="6" name="Picture 5">
            <a:extLst>
              <a:ext uri="{FF2B5EF4-FFF2-40B4-BE49-F238E27FC236}">
                <a16:creationId xmlns:a16="http://schemas.microsoft.com/office/drawing/2014/main" id="{3F9269C4-D3B3-067B-5CDD-F3F71D7F6A2F}"/>
              </a:ext>
            </a:extLst>
          </p:cNvPr>
          <p:cNvPicPr>
            <a:picLocks noChangeAspect="1"/>
          </p:cNvPicPr>
          <p:nvPr/>
        </p:nvPicPr>
        <p:blipFill>
          <a:blip r:embed="rId3"/>
          <a:stretch>
            <a:fillRect/>
          </a:stretch>
        </p:blipFill>
        <p:spPr>
          <a:xfrm>
            <a:off x="537590" y="959371"/>
            <a:ext cx="10959866" cy="5898630"/>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800" b="1" dirty="0">
                <a:sym typeface="Times New Roman"/>
              </a:rPr>
              <a:t>Other Applicable Screenshots: </a:t>
            </a:r>
            <a:endParaRPr lang="en-US" sz="2800" dirty="0"/>
          </a:p>
        </p:txBody>
      </p:sp>
      <p:pic>
        <p:nvPicPr>
          <p:cNvPr id="5" name="Picture 4">
            <a:extLst>
              <a:ext uri="{FF2B5EF4-FFF2-40B4-BE49-F238E27FC236}">
                <a16:creationId xmlns:a16="http://schemas.microsoft.com/office/drawing/2014/main" id="{639A38B1-AC5D-F078-8DCA-FE78B4D0C8FF}"/>
              </a:ext>
            </a:extLst>
          </p:cNvPr>
          <p:cNvPicPr>
            <a:picLocks noChangeAspect="1"/>
          </p:cNvPicPr>
          <p:nvPr/>
        </p:nvPicPr>
        <p:blipFill>
          <a:blip r:embed="rId3"/>
          <a:stretch>
            <a:fillRect/>
          </a:stretch>
        </p:blipFill>
        <p:spPr>
          <a:xfrm>
            <a:off x="537590" y="1034321"/>
            <a:ext cx="10824954" cy="5823679"/>
          </a:xfrm>
          <a:prstGeom prst="rect">
            <a:avLst/>
          </a:prstGeom>
        </p:spPr>
      </p:pic>
    </p:spTree>
    <p:extLst>
      <p:ext uri="{BB962C8B-B14F-4D97-AF65-F5344CB8AC3E}">
        <p14:creationId xmlns:p14="http://schemas.microsoft.com/office/powerpoint/2010/main" val="3342156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E9ACC-5CE5-A4E2-0E06-835A76575F0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F35B64E-43AC-5E75-AD09-D398E1325CB9}"/>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2ECDA43E-81E2-711A-211A-C4F7783255AD}"/>
              </a:ext>
            </a:extLst>
          </p:cNvPr>
          <p:cNvPicPr>
            <a:picLocks noChangeAspect="1"/>
          </p:cNvPicPr>
          <p:nvPr/>
        </p:nvPicPr>
        <p:blipFill>
          <a:blip r:embed="rId2"/>
          <a:stretch>
            <a:fillRect/>
          </a:stretch>
        </p:blipFill>
        <p:spPr>
          <a:xfrm>
            <a:off x="629587" y="548323"/>
            <a:ext cx="10882859" cy="6309677"/>
          </a:xfrm>
          <a:prstGeom prst="rect">
            <a:avLst/>
          </a:prstGeom>
        </p:spPr>
      </p:pic>
    </p:spTree>
    <p:extLst>
      <p:ext uri="{BB962C8B-B14F-4D97-AF65-F5344CB8AC3E}">
        <p14:creationId xmlns:p14="http://schemas.microsoft.com/office/powerpoint/2010/main" val="31960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1B90B-F030-C430-2DC9-BDE17477462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BA5A2A5-EB2F-48B5-7366-B8D07BD47DD6}"/>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F0481FF6-901B-C1E2-3436-77CDDF7498BD}"/>
              </a:ext>
            </a:extLst>
          </p:cNvPr>
          <p:cNvPicPr>
            <a:picLocks noChangeAspect="1"/>
          </p:cNvPicPr>
          <p:nvPr/>
        </p:nvPicPr>
        <p:blipFill>
          <a:blip r:embed="rId2"/>
          <a:stretch>
            <a:fillRect/>
          </a:stretch>
        </p:blipFill>
        <p:spPr>
          <a:xfrm>
            <a:off x="524656" y="533974"/>
            <a:ext cx="11002780" cy="6309036"/>
          </a:xfrm>
          <a:prstGeom prst="rect">
            <a:avLst/>
          </a:prstGeom>
        </p:spPr>
      </p:pic>
    </p:spTree>
    <p:extLst>
      <p:ext uri="{BB962C8B-B14F-4D97-AF65-F5344CB8AC3E}">
        <p14:creationId xmlns:p14="http://schemas.microsoft.com/office/powerpoint/2010/main" val="1471045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800" b="1" dirty="0">
                <a:solidFill>
                  <a:schemeClr val="dk1"/>
                </a:solidFill>
                <a:latin typeface="Calibri"/>
                <a:ea typeface="Calibri"/>
                <a:cs typeface="Calibri"/>
                <a:sym typeface="Calibri"/>
              </a:rPr>
              <a:t>Orchestrate architecture blueprint</a:t>
            </a:r>
            <a:endParaRPr lang="en-US" sz="2800" dirty="0">
              <a:solidFill>
                <a:schemeClr val="dk1"/>
              </a:solidFill>
            </a:endParaRPr>
          </a:p>
        </p:txBody>
      </p:sp>
      <p:pic>
        <p:nvPicPr>
          <p:cNvPr id="9" name="Picture 8">
            <a:extLst>
              <a:ext uri="{FF2B5EF4-FFF2-40B4-BE49-F238E27FC236}">
                <a16:creationId xmlns:a16="http://schemas.microsoft.com/office/drawing/2014/main" id="{D6A127DC-19E3-CF27-E6D4-3D066E43FDAD}"/>
              </a:ext>
            </a:extLst>
          </p:cNvPr>
          <p:cNvPicPr>
            <a:picLocks noChangeAspect="1"/>
          </p:cNvPicPr>
          <p:nvPr/>
        </p:nvPicPr>
        <p:blipFill>
          <a:blip r:embed="rId3"/>
          <a:stretch>
            <a:fillRect/>
          </a:stretch>
        </p:blipFill>
        <p:spPr>
          <a:xfrm>
            <a:off x="661037" y="1034322"/>
            <a:ext cx="10869925" cy="5711006"/>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324535"/>
          </a:xfrm>
          <a:prstGeom prst="rect">
            <a:avLst/>
          </a:prstGeom>
          <a:noFill/>
        </p:spPr>
        <p:txBody>
          <a:bodyPr wrap="square" rtlCol="0">
            <a:spAutoFit/>
          </a:bodyPr>
          <a:lstStyle/>
          <a:p>
            <a:r>
              <a:rPr lang="en-US" sz="2000" b="1" dirty="0"/>
              <a:t>Role of Agentic AI in </a:t>
            </a:r>
            <a:r>
              <a:rPr lang="en-US" sz="2000" b="1" dirty="0" err="1"/>
              <a:t>FarmaAgent</a:t>
            </a:r>
            <a:endParaRPr lang="en-US" sz="2000" b="1" dirty="0"/>
          </a:p>
          <a:p>
            <a:r>
              <a:rPr lang="en-US" sz="2000" dirty="0"/>
              <a:t>Agentic AI enables </a:t>
            </a:r>
            <a:r>
              <a:rPr lang="en-US" sz="2000" b="1" dirty="0" err="1"/>
              <a:t>FarmaAgent</a:t>
            </a:r>
            <a:r>
              <a:rPr lang="en-US" sz="2000" dirty="0"/>
              <a:t> to function as an intelligent, autonomous farming assistant rather than a simple chatbot. Using </a:t>
            </a:r>
            <a:r>
              <a:rPr lang="en-US" sz="2000" b="1" dirty="0"/>
              <a:t>IBM watsonx.ai</a:t>
            </a:r>
            <a:r>
              <a:rPr lang="en-US" sz="2000" dirty="0"/>
              <a:t>, </a:t>
            </a:r>
            <a:r>
              <a:rPr lang="en-US" sz="2000" b="1" dirty="0"/>
              <a:t>IBM Granite models</a:t>
            </a:r>
            <a:r>
              <a:rPr lang="en-US" sz="2000" dirty="0"/>
              <a:t>, and </a:t>
            </a:r>
            <a:r>
              <a:rPr lang="en-US" sz="2000" b="1" dirty="0"/>
              <a:t>IBM </a:t>
            </a:r>
            <a:r>
              <a:rPr lang="en-US" sz="2000" b="1" dirty="0" err="1"/>
              <a:t>watsonx</a:t>
            </a:r>
            <a:r>
              <a:rPr lang="en-US" sz="2000" b="1" dirty="0"/>
              <a:t> Orchestrate</a:t>
            </a:r>
            <a:r>
              <a:rPr lang="en-US" sz="2000" dirty="0"/>
              <a:t>, it coordinates multiple specialized agents to deliver personalized and real-time agricultural guidance.</a:t>
            </a:r>
          </a:p>
          <a:p>
            <a:r>
              <a:rPr lang="en-US" sz="2000" dirty="0"/>
              <a:t>Each agent performs a dedicated role—such as providing crop recommendations, analyzing weather conditions, detecting pests and diseases from crop images, and offering market insights—while collaborating with other agents to generate accurate and comprehensive farming advice. This multi-agent architecture ensures efficient task execution and better decision-making.</a:t>
            </a:r>
          </a:p>
          <a:p>
            <a:r>
              <a:rPr lang="en-US" sz="2000" dirty="0"/>
              <a:t>Agentic AI is context-aware, understanding farmer-specific information such as crop type, soil conditions, location, season, and farming goals to generate personalized recommendations.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324535"/>
          </a:xfrm>
          <a:prstGeom prst="rect">
            <a:avLst/>
          </a:prstGeom>
          <a:noFill/>
        </p:spPr>
        <p:txBody>
          <a:bodyPr wrap="square" rtlCol="0">
            <a:spAutoFit/>
          </a:bodyPr>
          <a:lstStyle/>
          <a:p>
            <a:r>
              <a:rPr lang="en-US" sz="2000" dirty="0"/>
              <a:t>The proposed </a:t>
            </a:r>
            <a:r>
              <a:rPr lang="en-US" sz="2000" b="1" dirty="0" err="1"/>
              <a:t>FarmaAgent</a:t>
            </a:r>
            <a:r>
              <a:rPr lang="en-US" sz="2000" dirty="0"/>
              <a:t> stands out by combining </a:t>
            </a:r>
            <a:r>
              <a:rPr lang="en-US" sz="2000" b="1" dirty="0"/>
              <a:t>Agentic AI, Retrieval-Augmented Generation (RAG), real-time data integration, and personalized farming recommendations</a:t>
            </a:r>
            <a:r>
              <a:rPr lang="en-US" sz="2000" dirty="0"/>
              <a:t> into a single intelligent agricultural assistant.</a:t>
            </a:r>
          </a:p>
          <a:p>
            <a:pPr lvl="0"/>
            <a:r>
              <a:rPr lang="en-US" sz="2000" b="1" dirty="0"/>
              <a:t>Multi-Agent Intelligence</a:t>
            </a:r>
            <a:r>
              <a:rPr lang="en-US" sz="2000" dirty="0"/>
              <a:t> – Instead of a single chatbot, multiple specialized agents collaborate to provide crop advisory, weather forecasting, pest and disease detection, and market insights. </a:t>
            </a:r>
          </a:p>
          <a:p>
            <a:pPr lvl="0"/>
            <a:r>
              <a:rPr lang="en-US" sz="2000" b="1" dirty="0"/>
              <a:t>RAG-Based Accuracy</a:t>
            </a:r>
            <a:r>
              <a:rPr lang="en-US" sz="2000" dirty="0"/>
              <a:t> – Retrieves trusted agricultural knowledge, government advisories, and crop guidelines before generating responses, ensuring reliable and evidence-based recommendations. </a:t>
            </a:r>
          </a:p>
          <a:p>
            <a:pPr lvl="0"/>
            <a:r>
              <a:rPr lang="en-US" sz="2000" b="1" dirty="0"/>
              <a:t>Personalized Farming Advice</a:t>
            </a:r>
            <a:r>
              <a:rPr lang="en-US" sz="2000" dirty="0"/>
              <a:t> – Generates customized recommendations based on the farmer's location, soil type, crop, season, and farming conditions. </a:t>
            </a:r>
          </a:p>
          <a:p>
            <a:pPr lvl="0"/>
            <a:r>
              <a:rPr lang="en-US" sz="2000" b="1" dirty="0"/>
              <a:t>Real-Time Decision Support</a:t>
            </a:r>
            <a:r>
              <a:rPr lang="en-US" sz="2000" dirty="0"/>
              <a:t> – Continuously updates recommendations using live weather forecasts, soil information, and market price trends. </a:t>
            </a:r>
          </a:p>
          <a:p>
            <a:pPr lvl="0"/>
            <a:r>
              <a:rPr lang="en-US" sz="2000" b="1" dirty="0"/>
              <a:t>Multi-Modal Interaction</a:t>
            </a:r>
            <a:r>
              <a:rPr lang="en-US" sz="2000" dirty="0"/>
              <a:t> – Supports text queries, voice commands, and crop image uploads for pest and disease identification. </a:t>
            </a:r>
          </a:p>
          <a:p>
            <a:pPr lvl="0"/>
            <a:r>
              <a:rPr lang="en-US" sz="2000" b="1" dirty="0"/>
              <a:t>Sustainable Agriculture Focus</a:t>
            </a:r>
            <a:r>
              <a:rPr lang="en-US" sz="2000" dirty="0"/>
              <a:t> – Promotes efficient irrigation, balanced fertilizer usage, early pest detection, and cost-effective farming practices to improve productivity while protecting natural resources. </a:t>
            </a:r>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301547B7-4D5B-C837-D4EF-F9DA46B6AA3E}"/>
              </a:ext>
            </a:extLst>
          </p:cNvPr>
          <p:cNvSpPr txBox="1"/>
          <p:nvPr/>
        </p:nvSpPr>
        <p:spPr>
          <a:xfrm>
            <a:off x="1218724" y="1379095"/>
            <a:ext cx="7940266" cy="707886"/>
          </a:xfrm>
          <a:prstGeom prst="rect">
            <a:avLst/>
          </a:prstGeom>
          <a:noFill/>
        </p:spPr>
        <p:txBody>
          <a:bodyPr wrap="square" rtlCol="0">
            <a:spAutoFit/>
          </a:bodyPr>
          <a:lstStyle/>
          <a:p>
            <a:r>
              <a:rPr lang="en-US" sz="2000" dirty="0">
                <a:latin typeface="+mj-lt"/>
                <a:cs typeface="Times New Roman" panose="02020603050405020304" pitchFamily="18" charset="0"/>
              </a:rPr>
              <a:t>https://github.com/payalkarvande10-byte/Smart-Farming-Advice-AI-Agent-FarmaAgent-</a:t>
            </a: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r>
              <a:rPr lang="en-US" sz="2000" b="1" dirty="0">
                <a:latin typeface="Times New Roman" panose="02020603050405020304" pitchFamily="18" charset="0"/>
                <a:cs typeface="Times New Roman" panose="02020603050405020304" pitchFamily="18" charset="0"/>
              </a:rPr>
              <a:t>IoT Integration</a:t>
            </a:r>
            <a:r>
              <a:rPr lang="en-US" sz="2000" dirty="0">
                <a:latin typeface="Times New Roman" panose="02020603050405020304" pitchFamily="18" charset="0"/>
                <a:cs typeface="Times New Roman" panose="02020603050405020304" pitchFamily="18" charset="0"/>
              </a:rPr>
              <a:t> – Connect with smart sensors to monitor real-time soil moisture, temperature, humidity, and nutrient levels for precise farming decisions. </a:t>
            </a:r>
          </a:p>
          <a:p>
            <a:pPr lvl="0"/>
            <a:r>
              <a:rPr lang="en-US" sz="2000" b="1" dirty="0">
                <a:latin typeface="Times New Roman" panose="02020603050405020304" pitchFamily="18" charset="0"/>
                <a:cs typeface="Times New Roman" panose="02020603050405020304" pitchFamily="18" charset="0"/>
              </a:rPr>
              <a:t>Drone &amp; Satellite Monitoring</a:t>
            </a:r>
            <a:r>
              <a:rPr lang="en-US" sz="2000" dirty="0">
                <a:latin typeface="Times New Roman" panose="02020603050405020304" pitchFamily="18" charset="0"/>
                <a:cs typeface="Times New Roman" panose="02020603050405020304" pitchFamily="18" charset="0"/>
              </a:rPr>
              <a:t> – Integrate drone imagery and satellite data to monitor crop health, detect diseases early, and estimate crop yield. </a:t>
            </a:r>
          </a:p>
          <a:p>
            <a:pPr lvl="0"/>
            <a:r>
              <a:rPr lang="en-US" sz="2000" b="1" dirty="0">
                <a:latin typeface="Times New Roman" panose="02020603050405020304" pitchFamily="18" charset="0"/>
                <a:cs typeface="Times New Roman" panose="02020603050405020304" pitchFamily="18" charset="0"/>
              </a:rPr>
              <a:t>Multilingual Voice Assistant</a:t>
            </a:r>
            <a:r>
              <a:rPr lang="en-US" sz="2000" dirty="0">
                <a:latin typeface="Times New Roman" panose="02020603050405020304" pitchFamily="18" charset="0"/>
                <a:cs typeface="Times New Roman" panose="02020603050405020304" pitchFamily="18" charset="0"/>
              </a:rPr>
              <a:t> – Support regional languages and voice-based interactions, making the system accessible to farmers with different literacy levels. </a:t>
            </a:r>
          </a:p>
          <a:p>
            <a:pPr lvl="0"/>
            <a:r>
              <a:rPr lang="en-US" sz="2000" b="1" dirty="0">
                <a:latin typeface="Times New Roman" panose="02020603050405020304" pitchFamily="18" charset="0"/>
                <a:cs typeface="Times New Roman" panose="02020603050405020304" pitchFamily="18" charset="0"/>
              </a:rPr>
              <a:t>Predictive Analytics</a:t>
            </a:r>
            <a:r>
              <a:rPr lang="en-US" sz="2000" dirty="0">
                <a:latin typeface="Times New Roman" panose="02020603050405020304" pitchFamily="18" charset="0"/>
                <a:cs typeface="Times New Roman" panose="02020603050405020304" pitchFamily="18" charset="0"/>
              </a:rPr>
              <a:t> – Use AI to forecast crop yield, pest outbreaks, and climate risks, enabling proactive farm management. </a:t>
            </a:r>
          </a:p>
          <a:p>
            <a:pPr lvl="0"/>
            <a:r>
              <a:rPr lang="en-US" sz="2000" b="1" dirty="0">
                <a:latin typeface="Times New Roman" panose="02020603050405020304" pitchFamily="18" charset="0"/>
                <a:cs typeface="Times New Roman" panose="02020603050405020304" pitchFamily="18" charset="0"/>
              </a:rPr>
              <a:t>Smart Irrigation Automation</a:t>
            </a:r>
            <a:r>
              <a:rPr lang="en-US" sz="2000" dirty="0">
                <a:latin typeface="Times New Roman" panose="02020603050405020304" pitchFamily="18" charset="0"/>
                <a:cs typeface="Times New Roman" panose="02020603050405020304" pitchFamily="18" charset="0"/>
              </a:rPr>
              <a:t> – Integrate with automated irrigation systems to optimize water usage based on weather forecasts and soil conditions. </a:t>
            </a:r>
          </a:p>
          <a:p>
            <a:pPr lvl="0"/>
            <a:r>
              <a:rPr lang="en-US" sz="2000" b="1" dirty="0">
                <a:latin typeface="Times New Roman" panose="02020603050405020304" pitchFamily="18" charset="0"/>
                <a:cs typeface="Times New Roman" panose="02020603050405020304" pitchFamily="18" charset="0"/>
              </a:rPr>
              <a:t>Government &amp; Financial Services Integration</a:t>
            </a:r>
            <a:r>
              <a:rPr lang="en-US" sz="2000" dirty="0">
                <a:latin typeface="Times New Roman" panose="02020603050405020304" pitchFamily="18" charset="0"/>
                <a:cs typeface="Times New Roman" panose="02020603050405020304" pitchFamily="18" charset="0"/>
              </a:rPr>
              <a:t> – Provide information on government schemes, crop insurance, subsidies, and agricultural loans within the platform. </a:t>
            </a:r>
          </a:p>
          <a:p>
            <a:pPr lvl="0"/>
            <a:r>
              <a:rPr lang="en-US" sz="2000" b="1" dirty="0">
                <a:latin typeface="Times New Roman" panose="02020603050405020304" pitchFamily="18" charset="0"/>
                <a:cs typeface="Times New Roman" panose="02020603050405020304" pitchFamily="18" charset="0"/>
              </a:rPr>
              <a:t>Blockchain-Based Supply Chain</a:t>
            </a:r>
            <a:r>
              <a:rPr lang="en-US" sz="2000" dirty="0">
                <a:latin typeface="Times New Roman" panose="02020603050405020304" pitchFamily="18" charset="0"/>
                <a:cs typeface="Times New Roman" panose="02020603050405020304" pitchFamily="18" charset="0"/>
              </a:rPr>
              <a:t> – Improve transparency and traceability of agricultural produce from farm to market.</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2800" dirty="0"/>
          </a:p>
        </p:txBody>
      </p:sp>
      <p:pic>
        <p:nvPicPr>
          <p:cNvPr id="5" name="Picture 4">
            <a:extLst>
              <a:ext uri="{FF2B5EF4-FFF2-40B4-BE49-F238E27FC236}">
                <a16:creationId xmlns:a16="http://schemas.microsoft.com/office/drawing/2014/main" id="{6C085262-0C13-6014-7C55-8C3286DFE520}"/>
              </a:ext>
            </a:extLst>
          </p:cNvPr>
          <p:cNvPicPr>
            <a:picLocks noChangeAspect="1"/>
          </p:cNvPicPr>
          <p:nvPr/>
        </p:nvPicPr>
        <p:blipFill>
          <a:blip r:embed="rId2"/>
          <a:stretch>
            <a:fillRect/>
          </a:stretch>
        </p:blipFill>
        <p:spPr>
          <a:xfrm>
            <a:off x="2318810" y="1095049"/>
            <a:ext cx="7554379" cy="4667901"/>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 Earned:</a:t>
            </a:r>
            <a:r>
              <a:rPr sz="2800" b="0" i="0" dirty="0">
                <a:solidFill>
                  <a:srgbClr val="000000"/>
                </a:solidFill>
                <a:latin typeface="Arial"/>
                <a:ea typeface="Arial"/>
                <a:cs typeface="Arial"/>
              </a:rPr>
              <a:t>​</a:t>
            </a:r>
            <a:endParaRPr lang="en-US" sz="2800" dirty="0"/>
          </a:p>
          <a:p>
            <a:pPr algn="ctr"/>
            <a:endParaRPr lang="en-US" sz="2800" dirty="0"/>
          </a:p>
        </p:txBody>
      </p:sp>
      <p:pic>
        <p:nvPicPr>
          <p:cNvPr id="3" name="Picture 2">
            <a:extLst>
              <a:ext uri="{FF2B5EF4-FFF2-40B4-BE49-F238E27FC236}">
                <a16:creationId xmlns:a16="http://schemas.microsoft.com/office/drawing/2014/main" id="{68E80364-0C2E-B012-D466-9F12EE9FF5E4}"/>
              </a:ext>
            </a:extLst>
          </p:cNvPr>
          <p:cNvPicPr>
            <a:picLocks noChangeAspect="1"/>
          </p:cNvPicPr>
          <p:nvPr/>
        </p:nvPicPr>
        <p:blipFill>
          <a:blip r:embed="rId2"/>
          <a:stretch>
            <a:fillRect/>
          </a:stretch>
        </p:blipFill>
        <p:spPr>
          <a:xfrm>
            <a:off x="2293495" y="1154243"/>
            <a:ext cx="7480091" cy="464694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3065</TotalTime>
  <Words>1211</Words>
  <Application>Microsoft Office PowerPoint</Application>
  <PresentationFormat>Widescreen</PresentationFormat>
  <Paragraphs>82</Paragraphs>
  <Slides>19</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Payal Karwande</cp:lastModifiedBy>
  <cp:revision>100</cp:revision>
  <dcterms:created xsi:type="dcterms:W3CDTF">2025-07-08T05:06:56Z</dcterms:created>
  <dcterms:modified xsi:type="dcterms:W3CDTF">2026-07-30T17:21:46Z</dcterms:modified>
</cp:coreProperties>
</file>